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45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90"/>
                </a:solidFill>
              </a:rPr>
              <a:t>PostgreSQL • pgAdmin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190"/>
                </a:solidFill>
              </a:rPr>
              <a:t>SQL Practice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PostgreSQL in pgAdmin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2880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4EA"/>
                </a:solidFill>
              </a:rPr>
              <a:t>SQL commands, constraints, filtering, functions, subqueries and table modification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11680" y="3703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B4E8"/>
                </a:solidFill>
              </a:rPr>
              <a:t>Practice screenshots with concise definitions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Creating a Table in PostgreSQL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DDL basics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CREATE TABLE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CREATE TABLE creates a new table and defines its columns and data types. Here, the person table contains id (INT), name (VARCHAR(100)), and city (VARCHAR(100)).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pg_ppt_work/crop1.png"/>
          <p:cNvPicPr>
            <a:picLocks noChangeAspect="1"/>
          </p:cNvPicPr>
          <p:nvPr/>
        </p:nvPicPr>
        <p:blipFill>
          <a:blip r:embed="rId3"/>
          <a:srcRect b="67540"/>
          <a:stretch>
            <a:fillRect/>
          </a:stretch>
        </p:blipFill>
        <p:spPr>
          <a:xfrm>
            <a:off x="5181400" y="1536192"/>
            <a:ext cx="5417820" cy="15207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Database Management in PostgreSQL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Creating and viewing databases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Creating a Database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CREATE DATABASE creates a new PostgreSQL database. The example creates a database named test.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pg_ppt_work/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863852"/>
            <a:ext cx="3840480" cy="981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Listing Databases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SELECT datname FROM pg_database retrieves the names of databases available on the PostgreSQL server.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40742" y="3602736"/>
            <a:ext cx="450871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pg_ppt_work/crop3.png"/>
          <p:cNvPicPr>
            <a:picLocks noChangeAspect="1"/>
          </p:cNvPicPr>
          <p:nvPr/>
        </p:nvPicPr>
        <p:blipFill>
          <a:blip r:embed="rId4"/>
          <a:srcRect b="83746"/>
          <a:stretch>
            <a:fillRect/>
          </a:stretch>
        </p:blipFill>
        <p:spPr>
          <a:xfrm>
            <a:off x="7543800" y="3666744"/>
            <a:ext cx="3123591" cy="7279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5" name="Image 1" descr="/mnt/data/pg_ppt_work/crop3.png">
            <a:extLst>
              <a:ext uri="{FF2B5EF4-FFF2-40B4-BE49-F238E27FC236}">
                <a16:creationId xmlns:a16="http://schemas.microsoft.com/office/drawing/2014/main" id="{B8C9B8DA-69A5-EBB6-3248-A0DDA43057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465" t="68310" r="3465" b="-10757"/>
          <a:stretch>
            <a:fillRect/>
          </a:stretch>
        </p:blipFill>
        <p:spPr>
          <a:xfrm>
            <a:off x="7423484" y="4440376"/>
            <a:ext cx="3472507" cy="1548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Inserting Data into a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DML basics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INSERT INTO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INSERT INTO adds new rows to an existing table. The example inserts multiple records into person by supplying values for id, name, and city.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25381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pg_ppt_work/crop4.png"/>
          <p:cNvPicPr>
            <a:picLocks noChangeAspect="1"/>
          </p:cNvPicPr>
          <p:nvPr/>
        </p:nvPicPr>
        <p:blipFill>
          <a:blip r:embed="rId3"/>
          <a:srcRect t="-4857" b="71674"/>
          <a:stretch>
            <a:fillRect/>
          </a:stretch>
        </p:blipFill>
        <p:spPr>
          <a:xfrm>
            <a:off x="5189220" y="1234440"/>
            <a:ext cx="5943600" cy="15929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Retrieving Data Using SELECT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Selecting all columns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SELECT *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SELECT retrieves data from a table. The * symbol means all columns, so SELECT * FROM person returns every row and every column.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35849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pg_ppt_work/crop5.png"/>
          <p:cNvPicPr>
            <a:picLocks noChangeAspect="1"/>
          </p:cNvPicPr>
          <p:nvPr/>
        </p:nvPicPr>
        <p:blipFill>
          <a:blip r:embed="rId3"/>
          <a:srcRect l="-1229" t="-4431" r="-5305" b="85283"/>
          <a:stretch>
            <a:fillRect/>
          </a:stretch>
        </p:blipFill>
        <p:spPr>
          <a:xfrm>
            <a:off x="5660859" y="1323473"/>
            <a:ext cx="4711348" cy="9192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0" name="Image 0" descr="/mnt/data/pg_ppt_work/crop5.png">
            <a:extLst>
              <a:ext uri="{FF2B5EF4-FFF2-40B4-BE49-F238E27FC236}">
                <a16:creationId xmlns:a16="http://schemas.microsoft.com/office/drawing/2014/main" id="{30CAFFC0-981C-164D-EFC2-ECB6956628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581" t="71098" r="-8332" b="-41906"/>
          <a:stretch>
            <a:fillRect/>
          </a:stretch>
        </p:blipFill>
        <p:spPr>
          <a:xfrm>
            <a:off x="5113421" y="2635878"/>
            <a:ext cx="5258785" cy="33991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Retrieving Data Using SELECT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Selecting only required columns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One Specific Column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SELECT name FROM person returns only the name column. Use this when the other columns are not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34273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pg_ppt_work/crop6.png"/>
          <p:cNvPicPr>
            <a:picLocks noChangeAspect="1"/>
          </p:cNvPicPr>
          <p:nvPr/>
        </p:nvPicPr>
        <p:blipFill>
          <a:blip r:embed="rId3"/>
          <a:srcRect b="78100"/>
          <a:stretch>
            <a:fillRect/>
          </a:stretch>
        </p:blipFill>
        <p:spPr>
          <a:xfrm>
            <a:off x="4099427" y="1344890"/>
            <a:ext cx="3139706" cy="11155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Multiple Specific Columns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Separate column names with commas. SELECT name, city FROM person returns only those two columns.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pg_ppt_work/crop7.png"/>
          <p:cNvPicPr>
            <a:picLocks noChangeAspect="1"/>
          </p:cNvPicPr>
          <p:nvPr/>
        </p:nvPicPr>
        <p:blipFill>
          <a:blip r:embed="rId4"/>
          <a:srcRect b="81746"/>
          <a:stretch>
            <a:fillRect/>
          </a:stretch>
        </p:blipFill>
        <p:spPr>
          <a:xfrm>
            <a:off x="8067175" y="3657599"/>
            <a:ext cx="3527418" cy="6918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5" name="Image 0" descr="/mnt/data/pg_ppt_work/crop6.png">
            <a:extLst>
              <a:ext uri="{FF2B5EF4-FFF2-40B4-BE49-F238E27FC236}">
                <a16:creationId xmlns:a16="http://schemas.microsoft.com/office/drawing/2014/main" id="{B07128C7-A3F9-D509-6371-D2132D3B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1" t="56408" r="1281" b="-17614"/>
          <a:stretch>
            <a:fillRect/>
          </a:stretch>
        </p:blipFill>
        <p:spPr>
          <a:xfrm>
            <a:off x="4069413" y="2033336"/>
            <a:ext cx="3471111" cy="2069431"/>
          </a:xfrm>
          <a:prstGeom prst="rect">
            <a:avLst/>
          </a:prstGeom>
        </p:spPr>
      </p:pic>
      <p:pic>
        <p:nvPicPr>
          <p:cNvPr id="17" name="Image 1" descr="/mnt/data/pg_ppt_work/crop7.png">
            <a:extLst>
              <a:ext uri="{FF2B5EF4-FFF2-40B4-BE49-F238E27FC236}">
                <a16:creationId xmlns:a16="http://schemas.microsoft.com/office/drawing/2014/main" id="{5D088ADB-3188-F88F-3755-8F9FCE90C3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817" t="65959" r="4817" b="-20078"/>
          <a:stretch>
            <a:fillRect/>
          </a:stretch>
        </p:blipFill>
        <p:spPr>
          <a:xfrm>
            <a:off x="7866727" y="4367704"/>
            <a:ext cx="3633537" cy="1420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Updating Existing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Changing stored values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UPDATE + SET + WHERE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UPDATE modifies existing rows. SET specifies the new value and WHERE chooses the rows to change. Here, every row with name = Raju gets city = Banglore.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pg_ppt_work/crop8.png"/>
          <p:cNvPicPr>
            <a:picLocks noChangeAspect="1"/>
          </p:cNvPicPr>
          <p:nvPr/>
        </p:nvPicPr>
        <p:blipFill>
          <a:blip r:embed="rId3"/>
          <a:srcRect b="71078"/>
          <a:stretch>
            <a:fillRect/>
          </a:stretch>
        </p:blipFill>
        <p:spPr>
          <a:xfrm>
            <a:off x="6003374" y="1992910"/>
            <a:ext cx="4050506" cy="13884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0" name="Image 0" descr="/mnt/data/pg_ppt_work/crop8.png">
            <a:extLst>
              <a:ext uri="{FF2B5EF4-FFF2-40B4-BE49-F238E27FC236}">
                <a16:creationId xmlns:a16="http://schemas.microsoft.com/office/drawing/2014/main" id="{D1D261ED-95A9-B35F-8778-566AC926D7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" t="71805" r="-790" b="-10572"/>
          <a:stretch>
            <a:fillRect/>
          </a:stretch>
        </p:blipFill>
        <p:spPr>
          <a:xfrm>
            <a:off x="6007608" y="3476646"/>
            <a:ext cx="4050506" cy="18610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Deleting Existing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Removing selected rows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DELETE + WHERE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DELETE removes records from a table. WHERE limits the deletion to matching rows. Here, the row with id = 103 is removed.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pg_ppt_work/cro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77953"/>
            <a:ext cx="6903720" cy="39135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NULL Values in PostgreSQL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Missing or unknown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NULL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NULL represents missing or unknown data. When city is omitted from the INSERT and no default exists, PostgreSQL stores NULL in city.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c7e5718e-a24f-40fc-90a2-b3dca8feee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34" y="1234440"/>
            <a:ext cx="4901171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Constraints in PostgreSQL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Rules that protect data quality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PRIMARY KEY • NOT NULL • DEFAULT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PRIMARY KEY uniquely identifies each row and cannot be NULL. NOT NULL makes a value mandatory. DEFAULT supplies a predefined value when one is not provided.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dffce488-20ac-49b0-973f-f8472c97a6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69356"/>
            <a:ext cx="6903720" cy="25307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Auto-Incrementing Keys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Generating IDs automatically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SERIAL PRIMARY KEY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SERIAL automatically generates sequential integer values. Combined with PRIMARY KEY, it creates a convenient unique ID for each new row.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ca5a124b-8639-4889-8d29-e784109f2a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673150"/>
            <a:ext cx="6903720" cy="19231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Employee Table with Multiple Constraints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Combining common table rules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Constraints and Defaults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This employees table combines SERIAL PRIMARY KEY, NOT NULL, UNIQUE, DECIMAL(10,2), DEFAULT salary, and DEFAULT CURRENT_DATE to enforce consistent employee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e8c1fb9e-c3b2-4473-820a-b5b4e815c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08810"/>
            <a:ext cx="6903720" cy="34518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Employee Table Definition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A second view of the same design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Constraint Review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table definition shows how multiple column rules can be declared directly inside CREATE TABLE. It reinforces mandatory names, unique emails, default salary, and automatic hire date.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036da8e5-1d08-43bb-8d47-a52e669606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132542"/>
            <a:ext cx="6903720" cy="30043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Managing a SERIAL Sequence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Synchronizing generated IDs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setval() + INSERT + currval()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setval() synchronizes the employees sequence with the current maximum emp_id. New rows then omit emp_id so SERIAL generates it. currval() checks the current sequence value.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103eb2d1-51b3-493d-b904-86bfa1ff75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38487"/>
            <a:ext cx="6903720" cy="35925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Filtering Data with WHERE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Logical conditions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OR Operator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OR returns a row when at least one condition is true. The example returns employees in HR or Finance.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933048c9-0077-438f-a9d9-18ec99a44e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731688"/>
            <a:ext cx="3840480" cy="12457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AND Operator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AND requires all conditions to be true. The example returns IT employees whose salary is greater than 50,000.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d0484281-d4d4-46fa-bb6b-92b0c7fa1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891518"/>
            <a:ext cx="3822192" cy="186388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Filtering Numeric Values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Comparison operators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Greater Than or Equal 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WHERE salary &gt;= 50000 returns employees earning 50,000 or more. Comparison operators can filter numeric, date, and other comparable values.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17c0cf9b-a5c7-45de-ba75-fc70bd7d26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81895"/>
            <a:ext cx="6903720" cy="33056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Filtering with Lists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IN and NOT 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IN checks whether a value matches any item in a list. It is a compact alternative to several OR conditions.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42a832bb-63ca-4457-9392-f8006ba3b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789" y="1325880"/>
            <a:ext cx="3661541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NOT IN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NOT IN excludes rows whose value matches any item in the list. Here, IT, Finance, and HR are excluded.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1d4683bc-51be-4fff-b888-1636243826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062713"/>
            <a:ext cx="3822192" cy="15214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Filtering a Range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Inclusive boundaries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BETWEEN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BETWEEN selects values inside an inclusive range. salary BETWEEN 50000 AND 60000 means salary &gt;= 50000 AND salary &lt;= 60000.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cc8e2502-3203-41c7-b205-27adfd3dad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158591"/>
            <a:ext cx="6903720" cy="29522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Removing Duplicate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Unique values only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DISTINCT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DISTINCT removes duplicate values from the result set. SELECT DISTINCT dept returns each department only once.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cc6e9277-b593-4bd6-9b9d-117eebaa7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97221"/>
            <a:ext cx="6903720" cy="4075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Sorting Data with ORDER BY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Ascending and descending order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Ascending 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ORDER BY fname sorts first names alphabetically. ASC is the default, so it can be omitted.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849a946d-0296-4fca-9c7a-d4ff21517c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588" y="1325880"/>
            <a:ext cx="3567945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Descending Order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DESC reverses the sort order. For text, names are arranged from Z to 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1df7a9b6-d80c-4caf-9d3b-8f146a5a3b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912657"/>
            <a:ext cx="3822192" cy="18216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Limiting Query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Returning only a few rows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LIMIT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LIMIT restricts the maximum number of rows returned. SELECT * FROM employees LIMIT 3 returns only three rows.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ba406730-a4ac-4c6e-9313-7364fbdef6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431988"/>
            <a:ext cx="6903720" cy="24055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Pattern Matching with LIKE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Using the % wildcard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Starts With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LIKE 'A%' finds values that begin with A. % represents zero or more characters after 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affa18c9-c58a-411c-8ac8-c5ba2ebc7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450459"/>
            <a:ext cx="3840480" cy="18082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Ends With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LIKE '%a' finds values that end with a. % can represent any preceding characters.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c6ed9ffc-b35a-4f92-8631-3939f8b193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031401"/>
            <a:ext cx="3822192" cy="15841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Pattern Matching with LIKE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Finding text anywhere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Contains Pattern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LIKE '%a%' finds values containing lowercase a anywhere in the text. The % wildcard is used on both sides.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176d234d-5e75-45f1-92d7-7128838b67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084172"/>
            <a:ext cx="6903720" cy="31011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Pattern Matching with LIKE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Using the underscore wildcard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_ Wildcard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underscore (_) represents exactly one character. dept LIKE '_a%' requires any first character, a as the second character, then any remaining text.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81cfdaf0-7db9-48f6-93ac-ed100a5369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11236"/>
            <a:ext cx="6903720" cy="40470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Aggregate Functions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Summarizing many rows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COUNT()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COUNT(emp_id) counts non-NULL employee IDs. Because emp_id is a primary key, the result 10 means there are 10 employee records.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2aaed9db-a8b2-470d-b43e-91449ed411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584929"/>
            <a:ext cx="3840480" cy="15393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SUM()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SUM(salary) adds all non-NULL salary values. The example returns a total salary of 521,000.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3efeaeac-5e05-4d9c-aa85-99d36254d0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078717"/>
            <a:ext cx="3822192" cy="14894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Aggregate Functions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Average, minimum and maximum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AVG() • MIN() • MAX()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AVG() calculates the average, MIN() finds the smallest value, and MAX() finds the largest value. The visible result shows AVG(salary) = 52,100.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ee09ac87-c68c-46c1-9c10-d97088e6bc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23315"/>
            <a:ext cx="6903720" cy="36228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Grouping Data with GROUP BY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Aggregates per department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Count by Department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GROUP BY dept forms one group per department. COUNT(emp_id) then calculates the number of employees in each group.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c0212ead-6161-47e5-8f70-bfac153c0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85913"/>
            <a:ext cx="3840480" cy="193733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Salary Total by Department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SUM(salary) with GROUP BY dept calculates a separate salary total for each department.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a2cc1e67-81f8-4c6f-86c6-c737276807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890294"/>
            <a:ext cx="3822192" cy="18663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String Functions: CONCAT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Combining text values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CONCAT()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CONCAT(fname, lname) joins first and last names into one string. AS Fullname gives the result column a temporary alias.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38828179-1c22-49ce-b4ae-b461e067da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276" y="1325880"/>
            <a:ext cx="2924569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With Other Columns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 calculated CONCAT result can be selected alongside normal columns such as emp_id and dept.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0c63cec8-0250-489d-ab13-6fb4c498b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242" y="3657600"/>
            <a:ext cx="3000508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String Functions: CONCAT_WS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Concatenate with separator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CONCAT_WS()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CONCAT_WS(separator, ...) combines values while inserting a chosen separator. An empty separator joins the names directly; a space would produce Raj Sharma.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3295b00f-19c5-4b82-9225-724d53ec2b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428" y="1234440"/>
            <a:ext cx="5961185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String Functions: SUBSTR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Extracting part of a string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SUBSTR()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SUBSTR(text, start, length) extracts part of a string. SUBSTR('Hello buddy!', 1, 9) starts at character 1 and returns 9 characters: Hello bud.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af74fe82-8cdd-4db9-b480-c0d4a93360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20879"/>
            <a:ext cx="6903720" cy="28277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String Functions: REPLACE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Replacing text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Replace in a Literal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REPLACE('ABCXYZ','ABC','PQR') finds ABC and substitutes PQR, producing PQRXYZ.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ba562f99-c0dc-4f5f-b6f6-72bcaae06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617884"/>
            <a:ext cx="3840480" cy="14733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Replace in a Column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REPLACE(dept,'IT','TECH') changes matching text in the query output. It does not permanently update the stored table data.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16018b9d-e18e-46e1-8780-64056e9a3e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649" y="3657600"/>
            <a:ext cx="2729694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String Functions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Reversing and measuring text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REVERSE()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REVERSE(fname) reverses the characters of each first name in the displayed result.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000a362d-ab03-4bd7-80f1-cfffb100a7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313" y="1325880"/>
            <a:ext cx="2160494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LENGTH()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LENGTH(fname) returns the number of characters in each first name.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1203e5b2-f3e8-41de-b966-2e0ed7d42d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889" y="3657600"/>
            <a:ext cx="2261214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Using String Functions in WHERE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Filtering by calculated length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LENGTH() + WHERE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WHERE LENGTH(fname) &gt; 5 returns only rows whose first name contains more than five characters. Kavita and Anjali both have six characters.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7ceb1eaf-4edb-42cb-89ea-5269af170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16427"/>
            <a:ext cx="6903720" cy="22366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Changing Text Case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UPPER and LOWER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UPPER()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UPPER(fname) converts text to uppercase in the query result without changing the stored value.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095bdb4f-1e65-4059-9a68-2bdc7feab2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512" y="1325880"/>
            <a:ext cx="2098096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LOWER()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LOWER(fname) converts text to lowercase in the query result without changing the stored value.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868433c2-6d70-4d53-a7e4-5bd6983edc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38" y="3657600"/>
            <a:ext cx="1786516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Extracting from the Left and Right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String slicing helpers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LEFT() and RIGHT()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LEFT(text, n) returns the first n characters; RIGHT(text, n) returns the last n characters. For HELLO WORLD, LEFT(...,4) gives HELL and RIGHT(...,4) gives ORLD.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b2268082-7a65-4be2-acd4-0e4fa58427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72103"/>
            <a:ext cx="6903720" cy="37252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Removing Extra Spaces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Cleaning text before processing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TRIM() + LENGTH()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TRIM() removes leading and trailing spaces. LENGTH(TRIM(...)) then measures the cleaned text. The cleaned word alright contains 7 characters.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95110a91-3b08-4429-aba3-46677c42f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80854"/>
            <a:ext cx="6903720" cy="21077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Finding Text Position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Locating a substring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POSITION()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POSITION(substring IN string) returns the starting position of the substring, counting from 1. In Thomas, om starts at position 3.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f891141a-7984-4037-bf9f-d02eb468c0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485988"/>
            <a:ext cx="6903720" cy="22975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Advanced CONCAT_WS Examples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Formatting employee output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Multiple Columns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Using ' : ' as a separator combines emp_id, fname, lname, and dept into a readable single string.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a50e765c-769c-4ceb-ae27-b270348a3a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967" y="1325880"/>
            <a:ext cx="2817187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With WHERE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same formatting can be restricted to a selected employee using WHERE emp_id = 1.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ebb7a7cf-b247-4006-8249-6f1a2457d9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057816"/>
            <a:ext cx="3822192" cy="15312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Nested String Functions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Functions can be used inside functions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Nested CONCAT_WS()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inner CONCAT_WS joins first and last name with a space; the outer CONCAT_WS joins ID, full name, and department with colons.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08a5dab3-b023-4166-9200-67fbda640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482328"/>
            <a:ext cx="3840480" cy="1744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CONCAT_WS() + UPPER()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UPPER(dept) converts the department before CONCAT_WS formats the final output. WHERE limits the row to emp_id = 1.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fa521390-1d5b-480b-b101-4b3ca66307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077328"/>
            <a:ext cx="3822192" cy="14922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Creating a Custom Employee Code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Combining LEFT() and CONCAT()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Nested String Functions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LEFT(dept,1) extracts the department initial and CONCAT joins it with emp_id. Examples include I1, H2, F4, and M10.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4f023c06-8554-4ec2-9c6e-0297f0b33f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411" y="1234440"/>
            <a:ext cx="6799217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Subqueries in PostgreSQL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Using aggregate results inside another query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Highest Salary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inner SELECT MAX(salary) finds the highest salary. The outer query returns the employee whose salary equals that result.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756539"/>
            <a:ext cx="3840480" cy="11960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Lowest Salary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inner SELECT MIN(salary) finds the lowest salary. The outer query returns the employee whose salary equals that result.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image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149075"/>
            <a:ext cx="3822192" cy="13487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ALTER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Adding and removing columns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ADD COLUMN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ALTER TABLE ... ADD COLUMN adds a new column to an existing table. Existing rows receive NULL when no default value is defined.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image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519" y="1325880"/>
            <a:ext cx="3586083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DROP COLUMN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ALTER TABLE ... DROP COLUMN permanently removes a column from the table structure.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image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31" y="3657600"/>
            <a:ext cx="3442930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ALTER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Renaming a column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RENAME COLUMN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ALTER TABLE person RENAME COLUMN name TO fname changes the column name while keeping the existing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image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800" y="1234440"/>
            <a:ext cx="4982441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ALTER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Renaming a table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RENAME 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In PostgreSQL, ALTER TABLE contacts RENAME TO mycontacts renames the table while preserving its columns and data. The alternative RENAME TABLE syntax shown is not PostgreSQL syntax.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image(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70648"/>
            <a:ext cx="6903720" cy="3728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ALTER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Changing column properties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SET DATA TYPE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ALTER COLUMN ... SET DATA TYPE changes a column type or size. Here, fname becomes VARCHAR(200).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image(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10" y="1325880"/>
            <a:ext cx="3086100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SET DEFAULT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ALTER COLUMN ... SET DEFAULT 'unknown' assigns a default for future inserts where fname is omitted. Existing rows are not changed.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image(7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673" y="3657600"/>
            <a:ext cx="3235647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Inspecting Table Structure in psql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Verifying table metadata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\d meta-command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383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psql \d person command displays columns, data types, constraints, and defaults. It confirms fname is VARCHAR(200) with default unknown.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54296" y="1179576"/>
            <a:ext cx="7013448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image(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926985"/>
            <a:ext cx="6903720" cy="14155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CHECK Constraints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Validating and managing rules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Testing a CHECK Constraint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CHECK (LENGTH(mob) &gt;= 10) requires at least 10 characters. A 9-character mobile value is rejected. UNIQUE also prevents duplicates.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48456" y="1271016"/>
            <a:ext cx="3950208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0" descr="/mnt/data/image(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607" y="1325880"/>
            <a:ext cx="3267906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ED"/>
                </a:solidFill>
              </a:rPr>
              <a:t>Dropping a Constraint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1947672"/>
            <a:ext cx="33649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ALTER TABLE contacts DROP CONSTRAINT contacts_mob_check removes the named CHECK constraint, so that rule is no longer enforced.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17536" y="3602736"/>
            <a:ext cx="3931920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mnt/data/image(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030488"/>
            <a:ext cx="3822192" cy="15859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Concepts covered so far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ED"/>
                </a:solidFill>
              </a:rPr>
              <a:t>DDL &amp; DML  •  Constraints  •  Filtering  •  Sorting  •  Aggregate Functions  •  GROUP BY  •  String Functions  •  Subqueries  •  ALTER TABLE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7A"/>
                </a:solidFill>
              </a:rPr>
              <a:t>All examples are based on the pgAdmin / PostgreSQL screenshots provided in this chat.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2214</Words>
  <Application>Microsoft Office PowerPoint</Application>
  <PresentationFormat>Widescreen</PresentationFormat>
  <Paragraphs>323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PostgreSQL in pgAdmin</dc:title>
  <dc:subject>PostgreSQL pgAdmin SQL concepts</dc:subject>
  <dc:creator>OpenAI</dc:creator>
  <cp:lastModifiedBy>VAIBHAV RAWAT</cp:lastModifiedBy>
  <cp:revision>2</cp:revision>
  <dcterms:created xsi:type="dcterms:W3CDTF">2026-09-27T11:24:56Z</dcterms:created>
  <dcterms:modified xsi:type="dcterms:W3CDTF">2026-09-27T11:41:26Z</dcterms:modified>
</cp:coreProperties>
</file>